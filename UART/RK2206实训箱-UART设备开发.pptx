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6"/>
    <p:sldId id="271" r:id="rId17"/>
    <p:sldId id="272" r:id="rId18"/>
    <p:sldId id="270" r:id="rId19"/>
    <p:sldId id="258" r:id="rId20"/>
  </p:sldIdLst>
  <p:sldSz cx="18288000" cy="10287000"/>
  <p:notesSz cx="6858000" cy="9144000"/>
  <p:embeddedFontLst>
    <p:embeddedFont>
      <p:font typeface="微软雅黑" panose="020B0503020204020204" pitchFamily="34" charset="-122"/>
      <p:regular r:id="rId25"/>
    </p:embeddedFont>
    <p:embeddedFont>
      <p:font typeface="字由点字美玲体" panose="00020600040101000101" charset="-122"/>
      <p:regular r:id="rId26"/>
    </p:embeddedFont>
    <p:embeddedFont>
      <p:font typeface="可画风暴黑-简" panose="020B0500000000000000" charset="-122"/>
      <p:regular r:id="rId27"/>
    </p:embeddedFont>
    <p:embeddedFont>
      <p:font typeface="黑体" panose="02010609060101010101" charset="-122"/>
      <p:regular r:id="rId28"/>
    </p:embeddedFont>
    <p:embeddedFont>
      <p:font typeface="MiSans" panose="00000500000000000000" pitchFamily="34" charset="-122"/>
      <p:regular r:id="rId29"/>
    </p:embeddedFont>
    <p:embeddedFont>
      <p:font typeface="MiSans" panose="00000500000000000000" pitchFamily="34" charset="-120"/>
      <p:regular r:id="rId30"/>
    </p:embeddedFont>
    <p:embeddedFont>
      <p:font typeface="可画标题黑-简" panose="020B0500000000000000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746" autoAdjust="0"/>
  </p:normalViewPr>
  <p:slideViewPr>
    <p:cSldViewPr showGuides="1">
      <p:cViewPr varScale="1">
        <p:scale>
          <a:sx n="36" d="100"/>
          <a:sy n="36" d="100"/>
        </p:scale>
        <p:origin x="12" y="1416"/>
      </p:cViewPr>
      <p:guideLst>
        <p:guide orient="horz" pos="2194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15:36.640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C9EB4-D916-4D25-8603-3E88D064D6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A5BB8-5C74-489E-8268-0B97DF0E8B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0.xml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3960" y="1460720"/>
            <a:ext cx="7429608" cy="7365559"/>
          </a:xfrm>
          <a:custGeom>
            <a:avLst/>
            <a:gdLst/>
            <a:ahLst/>
            <a:cxnLst/>
            <a:rect l="l" t="t" r="r" b="b"/>
            <a:pathLst>
              <a:path w="7429608" h="7365559">
                <a:moveTo>
                  <a:pt x="0" y="0"/>
                </a:moveTo>
                <a:lnTo>
                  <a:pt x="7429607" y="0"/>
                </a:lnTo>
                <a:lnTo>
                  <a:pt x="7429607" y="7365560"/>
                </a:lnTo>
                <a:lnTo>
                  <a:pt x="0" y="736556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01826" y="880795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2799106"/>
            <a:ext cx="18257474" cy="4642187"/>
          </a:xfrm>
          <a:custGeom>
            <a:avLst/>
            <a:gdLst/>
            <a:ahLst/>
            <a:cxnLst/>
            <a:rect l="l" t="t" r="r" b="b"/>
            <a:pathLst>
              <a:path w="18257474" h="4642187">
                <a:moveTo>
                  <a:pt x="0" y="0"/>
                </a:moveTo>
                <a:lnTo>
                  <a:pt x="18257474" y="0"/>
                </a:lnTo>
                <a:lnTo>
                  <a:pt x="18257474" y="4642187"/>
                </a:lnTo>
                <a:lnTo>
                  <a:pt x="0" y="4642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 t="-4805" b="-5808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084726" y="8579902"/>
            <a:ext cx="4088023" cy="750832"/>
            <a:chOff x="0" y="0"/>
            <a:chExt cx="1076681" cy="1977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6681" cy="197750"/>
            </a:xfrm>
            <a:custGeom>
              <a:avLst/>
              <a:gdLst/>
              <a:ahLst/>
              <a:cxnLst/>
              <a:rect l="l" t="t" r="r" b="b"/>
              <a:pathLst>
                <a:path w="1076681" h="197750">
                  <a:moveTo>
                    <a:pt x="1076681" y="0"/>
                  </a:moveTo>
                  <a:lnTo>
                    <a:pt x="0" y="0"/>
                  </a:lnTo>
                  <a:lnTo>
                    <a:pt x="101600" y="98875"/>
                  </a:lnTo>
                  <a:lnTo>
                    <a:pt x="0" y="197750"/>
                  </a:lnTo>
                  <a:lnTo>
                    <a:pt x="1076681" y="197750"/>
                  </a:lnTo>
                  <a:lnTo>
                    <a:pt x="975081" y="98875"/>
                  </a:lnTo>
                  <a:lnTo>
                    <a:pt x="1076681" y="0"/>
                  </a:lnTo>
                  <a:close/>
                </a:path>
              </a:pathLst>
            </a:custGeom>
            <a:solidFill>
              <a:srgbClr val="B1CB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88900" y="9525"/>
              <a:ext cx="898881" cy="188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5"/>
                </a:lnSpc>
              </a:pPr>
              <a:r>
                <a:rPr lang="en-US" sz="2475" b="1" spc="168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字由点字美玲体" panose="00020600040101000101" charset="-122"/>
                  <a:sym typeface="字由点字美玲体" panose="00020600040101000101" charset="-122"/>
                </a:rPr>
                <a:t>2025-10-16</a:t>
              </a:r>
              <a:endParaRPr lang="en-US" sz="2475" b="1" spc="168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99559" y="3430541"/>
            <a:ext cx="13258357" cy="160896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00"/>
              </a:lnSpc>
              <a:spcBef>
                <a:spcPct val="0"/>
              </a:spcBef>
            </a:pPr>
            <a:r>
              <a:rPr lang="en-US" sz="8600" b="1" dirty="0">
                <a:gradFill>
                  <a:gsLst>
                    <a:gs pos="57000">
                      <a:srgbClr val="1E76B0">
                        <a:lumMod val="5000"/>
                        <a:lumOff val="95000"/>
                      </a:srgbClr>
                    </a:gs>
                    <a:gs pos="100000">
                      <a:srgbClr val="7CACDA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宋体-粗体 1 Bold" panose="02020600000000000000" charset="-122"/>
              </a:rPr>
              <a:t>RK2206实训箱</a:t>
            </a:r>
            <a:endParaRPr lang="en-US" sz="8600" b="1" dirty="0">
              <a:gradFill>
                <a:gsLst>
                  <a:gs pos="57000">
                    <a:srgbClr val="1E76B0">
                      <a:lumMod val="5000"/>
                      <a:lumOff val="95000"/>
                    </a:srgbClr>
                  </a:gs>
                  <a:gs pos="100000">
                    <a:srgbClr val="7CACDA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宋体-粗体 1 Bold" panose="020206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863763" y="4949193"/>
            <a:ext cx="10560473" cy="35902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设备开发</a:t>
            </a:r>
            <a:r>
              <a:rPr lang="en-US" altLang="zh-CN" sz="8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en-US" altLang="zh-CN" sz="8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UART</a:t>
            </a:r>
            <a:endParaRPr lang="en-US" altLang="zh-CN" sz="8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lvl="0" indent="0" algn="ctr">
              <a:lnSpc>
                <a:spcPts val="14000"/>
              </a:lnSpc>
              <a:spcBef>
                <a:spcPct val="0"/>
              </a:spcBef>
            </a:pPr>
            <a:endParaRPr lang="en-US" sz="10000" b="1" spc="679" dirty="0">
              <a:latin typeface="微软雅黑" panose="020B0503020204020204" pitchFamily="34" charset="-122"/>
              <a:ea typeface="微软雅黑" panose="020B0503020204020204" pitchFamily="34" charset="-122"/>
              <a:cs typeface="思源宋体-粗体 1 Bold" panose="02020600000000000000" charset="-122"/>
              <a:sym typeface="可画风暴黑-简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4416886" cy="13336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en-US" sz="6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学习目标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7711" y="2890432"/>
            <a:ext cx="6962897" cy="1189037"/>
            <a:chOff x="0" y="0"/>
            <a:chExt cx="9283863" cy="158538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28954" cy="628954"/>
              <a:chOff x="0" y="0"/>
              <a:chExt cx="124238" cy="12423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4238" cy="124238"/>
              </a:xfrm>
              <a:custGeom>
                <a:avLst/>
                <a:gdLst/>
                <a:ahLst/>
                <a:cxnLst/>
                <a:rect l="l" t="t" r="r" b="b"/>
                <a:pathLst>
                  <a:path w="124238" h="124238">
                    <a:moveTo>
                      <a:pt x="62119" y="0"/>
                    </a:moveTo>
                    <a:lnTo>
                      <a:pt x="62119" y="0"/>
                    </a:lnTo>
                    <a:cubicBezTo>
                      <a:pt x="96426" y="0"/>
                      <a:pt x="124238" y="27812"/>
                      <a:pt x="124238" y="62119"/>
                    </a:cubicBezTo>
                    <a:lnTo>
                      <a:pt x="124238" y="62119"/>
                    </a:lnTo>
                    <a:cubicBezTo>
                      <a:pt x="124238" y="78594"/>
                      <a:pt x="117693" y="94394"/>
                      <a:pt x="106044" y="106044"/>
                    </a:cubicBezTo>
                    <a:cubicBezTo>
                      <a:pt x="94394" y="117693"/>
                      <a:pt x="78594" y="124238"/>
                      <a:pt x="62119" y="124238"/>
                    </a:cubicBezTo>
                    <a:lnTo>
                      <a:pt x="62119" y="124238"/>
                    </a:lnTo>
                    <a:cubicBezTo>
                      <a:pt x="45644" y="124238"/>
                      <a:pt x="29844" y="117693"/>
                      <a:pt x="18194" y="106044"/>
                    </a:cubicBezTo>
                    <a:cubicBezTo>
                      <a:pt x="6545" y="94394"/>
                      <a:pt x="0" y="78594"/>
                      <a:pt x="0" y="62119"/>
                    </a:cubicBezTo>
                    <a:lnTo>
                      <a:pt x="0" y="62119"/>
                    </a:lnTo>
                    <a:cubicBezTo>
                      <a:pt x="0" y="45644"/>
                      <a:pt x="6545" y="29844"/>
                      <a:pt x="18194" y="18194"/>
                    </a:cubicBezTo>
                    <a:cubicBezTo>
                      <a:pt x="29844" y="6545"/>
                      <a:pt x="45644" y="0"/>
                      <a:pt x="62119" y="0"/>
                    </a:cubicBezTo>
                    <a:close/>
                  </a:path>
                </a:pathLst>
              </a:custGeom>
              <a:solidFill>
                <a:srgbClr val="33BDE1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9525"/>
                <a:ext cx="124238" cy="114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5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847279" y="19050"/>
              <a:ext cx="8436584" cy="1566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5"/>
                </a:lnSpc>
                <a:spcBef>
                  <a:spcPct val="0"/>
                </a:spcBef>
              </a:pPr>
              <a:r>
                <a:rPr 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了解</a:t>
              </a:r>
              <a:r>
                <a:rPr 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UART的基本概念、原理与工作方式</a:t>
              </a:r>
              <a:endParaRPr lang="en-US" sz="2775" spc="188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  <a:p>
              <a:pPr algn="l">
                <a:lnSpc>
                  <a:spcPts val="3055"/>
                </a:lnSpc>
                <a:spcBef>
                  <a:spcPct val="0"/>
                </a:spcBef>
              </a:pPr>
              <a:endParaRPr lang="en-US" sz="2775" spc="188" dirty="0">
                <a:solidFill>
                  <a:srgbClr val="000000"/>
                </a:solidFill>
                <a:latin typeface="字由点字美玲体" panose="00020600040101000101" charset="-122"/>
                <a:ea typeface="字由点字美玲体" panose="00020600040101000101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</p:txBody>
        </p:sp>
      </p:grpSp>
      <p:grpSp>
        <p:nvGrpSpPr>
          <p:cNvPr id="14" name="Group 9"/>
          <p:cNvGrpSpPr/>
          <p:nvPr/>
        </p:nvGrpSpPr>
        <p:grpSpPr>
          <a:xfrm>
            <a:off x="1637711" y="3723838"/>
            <a:ext cx="9258889" cy="471715"/>
            <a:chOff x="0" y="0"/>
            <a:chExt cx="12345186" cy="628954"/>
          </a:xfrm>
        </p:grpSpPr>
        <p:grpSp>
          <p:nvGrpSpPr>
            <p:cNvPr id="15" name="Group 10"/>
            <p:cNvGrpSpPr/>
            <p:nvPr/>
          </p:nvGrpSpPr>
          <p:grpSpPr>
            <a:xfrm>
              <a:off x="0" y="0"/>
              <a:ext cx="628954" cy="628954"/>
              <a:chOff x="0" y="0"/>
              <a:chExt cx="124238" cy="124238"/>
            </a:xfrm>
          </p:grpSpPr>
          <p:sp>
            <p:nvSpPr>
              <p:cNvPr id="17" name="Freeform 11"/>
              <p:cNvSpPr/>
              <p:nvPr/>
            </p:nvSpPr>
            <p:spPr>
              <a:xfrm>
                <a:off x="0" y="0"/>
                <a:ext cx="124238" cy="124238"/>
              </a:xfrm>
              <a:custGeom>
                <a:avLst/>
                <a:gdLst/>
                <a:ahLst/>
                <a:cxnLst/>
                <a:rect l="l" t="t" r="r" b="b"/>
                <a:pathLst>
                  <a:path w="124238" h="124238">
                    <a:moveTo>
                      <a:pt x="62119" y="0"/>
                    </a:moveTo>
                    <a:lnTo>
                      <a:pt x="62119" y="0"/>
                    </a:lnTo>
                    <a:cubicBezTo>
                      <a:pt x="96426" y="0"/>
                      <a:pt x="124238" y="27812"/>
                      <a:pt x="124238" y="62119"/>
                    </a:cubicBezTo>
                    <a:lnTo>
                      <a:pt x="124238" y="62119"/>
                    </a:lnTo>
                    <a:cubicBezTo>
                      <a:pt x="124238" y="78594"/>
                      <a:pt x="117693" y="94394"/>
                      <a:pt x="106044" y="106044"/>
                    </a:cubicBezTo>
                    <a:cubicBezTo>
                      <a:pt x="94394" y="117693"/>
                      <a:pt x="78594" y="124238"/>
                      <a:pt x="62119" y="124238"/>
                    </a:cubicBezTo>
                    <a:lnTo>
                      <a:pt x="62119" y="124238"/>
                    </a:lnTo>
                    <a:cubicBezTo>
                      <a:pt x="45644" y="124238"/>
                      <a:pt x="29844" y="117693"/>
                      <a:pt x="18194" y="106044"/>
                    </a:cubicBezTo>
                    <a:cubicBezTo>
                      <a:pt x="6545" y="94394"/>
                      <a:pt x="0" y="78594"/>
                      <a:pt x="0" y="62119"/>
                    </a:cubicBezTo>
                    <a:lnTo>
                      <a:pt x="0" y="62119"/>
                    </a:lnTo>
                    <a:cubicBezTo>
                      <a:pt x="0" y="45644"/>
                      <a:pt x="6545" y="29844"/>
                      <a:pt x="18194" y="18194"/>
                    </a:cubicBezTo>
                    <a:cubicBezTo>
                      <a:pt x="29844" y="6545"/>
                      <a:pt x="45644" y="0"/>
                      <a:pt x="62119" y="0"/>
                    </a:cubicBezTo>
                    <a:close/>
                  </a:path>
                </a:pathLst>
              </a:custGeom>
              <a:solidFill>
                <a:srgbClr val="33BDE1"/>
              </a:solidFill>
            </p:spPr>
          </p:sp>
          <p:sp>
            <p:nvSpPr>
              <p:cNvPr id="18" name="TextBox 12"/>
              <p:cNvSpPr txBox="1"/>
              <p:nvPr/>
            </p:nvSpPr>
            <p:spPr>
              <a:xfrm>
                <a:off x="0" y="9525"/>
                <a:ext cx="124238" cy="114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5"/>
                  </a:lnSpc>
                </a:pPr>
              </a:p>
            </p:txBody>
          </p:sp>
        </p:grpSp>
        <p:sp>
          <p:nvSpPr>
            <p:cNvPr id="16" name="TextBox 13"/>
            <p:cNvSpPr txBox="1"/>
            <p:nvPr/>
          </p:nvSpPr>
          <p:spPr>
            <a:xfrm>
              <a:off x="847279" y="19049"/>
              <a:ext cx="11497907" cy="530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055"/>
                </a:lnSpc>
                <a:spcBef>
                  <a:spcPct val="0"/>
                </a:spcBef>
              </a:pPr>
              <a:r>
                <a:rPr lang="zh-CN" alt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熟悉设备开发环境，掌握开发流程与程序烧录方法</a:t>
              </a:r>
              <a:endParaRPr lang="zh-CN" altLang="en-US" sz="2775" spc="188" dirty="0">
                <a:solidFill>
                  <a:srgbClr val="000000"/>
                </a:solidFill>
                <a:latin typeface="宋体" panose="02010600030101010101" pitchFamily="2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</p:txBody>
        </p:sp>
      </p:grpSp>
      <p:grpSp>
        <p:nvGrpSpPr>
          <p:cNvPr id="19" name="Group 9"/>
          <p:cNvGrpSpPr/>
          <p:nvPr/>
        </p:nvGrpSpPr>
        <p:grpSpPr>
          <a:xfrm>
            <a:off x="1637711" y="4546608"/>
            <a:ext cx="6962897" cy="797243"/>
            <a:chOff x="0" y="0"/>
            <a:chExt cx="9283863" cy="1062991"/>
          </a:xfrm>
        </p:grpSpPr>
        <p:grpSp>
          <p:nvGrpSpPr>
            <p:cNvPr id="20" name="Group 10"/>
            <p:cNvGrpSpPr/>
            <p:nvPr/>
          </p:nvGrpSpPr>
          <p:grpSpPr>
            <a:xfrm>
              <a:off x="0" y="0"/>
              <a:ext cx="628954" cy="628954"/>
              <a:chOff x="0" y="0"/>
              <a:chExt cx="124238" cy="124238"/>
            </a:xfrm>
          </p:grpSpPr>
          <p:sp>
            <p:nvSpPr>
              <p:cNvPr id="22" name="Freeform 11"/>
              <p:cNvSpPr/>
              <p:nvPr/>
            </p:nvSpPr>
            <p:spPr>
              <a:xfrm>
                <a:off x="0" y="0"/>
                <a:ext cx="124238" cy="124238"/>
              </a:xfrm>
              <a:custGeom>
                <a:avLst/>
                <a:gdLst/>
                <a:ahLst/>
                <a:cxnLst/>
                <a:rect l="l" t="t" r="r" b="b"/>
                <a:pathLst>
                  <a:path w="124238" h="124238">
                    <a:moveTo>
                      <a:pt x="62119" y="0"/>
                    </a:moveTo>
                    <a:lnTo>
                      <a:pt x="62119" y="0"/>
                    </a:lnTo>
                    <a:cubicBezTo>
                      <a:pt x="96426" y="0"/>
                      <a:pt x="124238" y="27812"/>
                      <a:pt x="124238" y="62119"/>
                    </a:cubicBezTo>
                    <a:lnTo>
                      <a:pt x="124238" y="62119"/>
                    </a:lnTo>
                    <a:cubicBezTo>
                      <a:pt x="124238" y="78594"/>
                      <a:pt x="117693" y="94394"/>
                      <a:pt x="106044" y="106044"/>
                    </a:cubicBezTo>
                    <a:cubicBezTo>
                      <a:pt x="94394" y="117693"/>
                      <a:pt x="78594" y="124238"/>
                      <a:pt x="62119" y="124238"/>
                    </a:cubicBezTo>
                    <a:lnTo>
                      <a:pt x="62119" y="124238"/>
                    </a:lnTo>
                    <a:cubicBezTo>
                      <a:pt x="45644" y="124238"/>
                      <a:pt x="29844" y="117693"/>
                      <a:pt x="18194" y="106044"/>
                    </a:cubicBezTo>
                    <a:cubicBezTo>
                      <a:pt x="6545" y="94394"/>
                      <a:pt x="0" y="78594"/>
                      <a:pt x="0" y="62119"/>
                    </a:cubicBezTo>
                    <a:lnTo>
                      <a:pt x="0" y="62119"/>
                    </a:lnTo>
                    <a:cubicBezTo>
                      <a:pt x="0" y="45644"/>
                      <a:pt x="6545" y="29844"/>
                      <a:pt x="18194" y="18194"/>
                    </a:cubicBezTo>
                    <a:cubicBezTo>
                      <a:pt x="29844" y="6545"/>
                      <a:pt x="45644" y="0"/>
                      <a:pt x="62119" y="0"/>
                    </a:cubicBezTo>
                    <a:close/>
                  </a:path>
                </a:pathLst>
              </a:custGeom>
              <a:solidFill>
                <a:srgbClr val="33BDE1"/>
              </a:solidFill>
            </p:spPr>
          </p:sp>
          <p:sp>
            <p:nvSpPr>
              <p:cNvPr id="23" name="TextBox 12"/>
              <p:cNvSpPr txBox="1"/>
              <p:nvPr/>
            </p:nvSpPr>
            <p:spPr>
              <a:xfrm>
                <a:off x="0" y="9525"/>
                <a:ext cx="124238" cy="114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5"/>
                  </a:lnSpc>
                </a:pPr>
              </a:p>
            </p:txBody>
          </p:sp>
        </p:grpSp>
        <p:sp>
          <p:nvSpPr>
            <p:cNvPr id="21" name="TextBox 13"/>
            <p:cNvSpPr txBox="1"/>
            <p:nvPr/>
          </p:nvSpPr>
          <p:spPr>
            <a:xfrm>
              <a:off x="847279" y="19050"/>
              <a:ext cx="8436584" cy="1043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55"/>
                </a:lnSpc>
                <a:spcBef>
                  <a:spcPct val="0"/>
                </a:spcBef>
              </a:pPr>
              <a:r>
                <a:rPr lang="zh-CN" alt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理解并掌握</a:t>
              </a:r>
              <a:r>
                <a:rPr 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UART</a:t>
              </a:r>
              <a:r>
                <a:rPr lang="zh-CN" altLang="en-US" sz="2775" spc="188" dirty="0">
                  <a:solidFill>
                    <a:srgbClr val="000000"/>
                  </a:solidFill>
                  <a:latin typeface="宋体" panose="02010600030101010101" pitchFamily="2" charset="-122"/>
                  <a:cs typeface="字由点字美玲体" panose="00020600040101000101" charset="-122"/>
                  <a:sym typeface="字由点字美玲体" panose="00020600040101000101" charset="-122"/>
                </a:rPr>
                <a:t>的控制方法</a:t>
              </a:r>
              <a:endParaRPr lang="zh-CN" altLang="en-US" sz="2775" spc="188" dirty="0">
                <a:solidFill>
                  <a:srgbClr val="000000"/>
                </a:solidFill>
                <a:latin typeface="宋体" panose="02010600030101010101" pitchFamily="2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  <a:p>
              <a:pPr>
                <a:lnSpc>
                  <a:spcPts val="3055"/>
                </a:lnSpc>
                <a:spcBef>
                  <a:spcPct val="0"/>
                </a:spcBef>
              </a:pPr>
              <a:endParaRPr lang="en-US" sz="2775" spc="188" dirty="0">
                <a:solidFill>
                  <a:srgbClr val="000000"/>
                </a:solidFill>
                <a:latin typeface="字由点字美玲体" panose="00020600040101000101" charset="-122"/>
                <a:ea typeface="字由点字美玲体" panose="00020600040101000101" charset="-122"/>
                <a:cs typeface="字由点字美玲体" panose="00020600040101000101" charset="-122"/>
                <a:sym typeface="字由点字美玲体" panose="0002060004010100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36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一、基础概念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-76200" y="2095500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4000" y="2988310"/>
            <a:ext cx="5506085" cy="61722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（通用异步收发传输器）是一种常见的串行通信协议，用于在设备间异步传输数据。</a:t>
            </a:r>
            <a:endParaRPr lang="zh-CN" altLang="en-US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通过两根信号线（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发送和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接收）实现全双工通信，无需时钟信号，而是依靠预先配置的波特率来同步数据时序。</a:t>
            </a:r>
            <a:endParaRPr lang="zh-CN" altLang="en-US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数据以帧为单位传输，每帧包含起始位、数据位（通常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5-8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位）、可选的校验位和停止位。</a:t>
            </a:r>
            <a:endParaRPr lang="zh-CN" altLang="en-US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结构简单、成本低廉，广泛应用于单片机、传感器、蓝牙模块等嵌入式设备的短距离数据交换，也是早期计算机串口和现代调试接口的基础。</a:t>
            </a:r>
            <a:endParaRPr lang="zh-CN" altLang="en-US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55" y="3162300"/>
            <a:ext cx="7922895" cy="3867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582400" y="7429500"/>
            <a:ext cx="1941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串口连接示意图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183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二、工作原理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049000" y="8490043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476500"/>
            <a:ext cx="6126480" cy="2847975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5905500"/>
            <a:ext cx="15940405" cy="3393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通信在发送端与接收端之间通过两根信号线（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）进行。其过程如下：</a:t>
            </a:r>
            <a:endParaRPr lang="en-US" altLang="zh-CN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发送端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(UART1)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：当需要发送数据时，首先将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线从高电平的空闲状态拉低，发送一个起始位，以此通知接收方数据开始。随后，将数据位（低位在前）、可选的校验位及停止位依次按约定的波特率移位输出到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线上。</a:t>
            </a:r>
            <a:endParaRPr lang="en-US" altLang="zh-CN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接收端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(UART2)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：持续监测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RX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线，一旦检测到起始位的下降沿，便启动内部定时器，并在每位数据的中心点进行采样，依次读取数据位、校验位，并最终验证停止位，完成一帧数据的接收。</a:t>
            </a:r>
            <a:endParaRPr lang="en-US" altLang="zh-CN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整个过程以异步方式传输数据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;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发送器根据其时钟信号生成的位流取代了时钟信号，接收器使用其内部时钟信号对输入数据进行采样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;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同步点是通过两个设备的相同波特率来管理的，无需时钟线，实现了设备间的异步串行通信。</a:t>
            </a:r>
            <a:endParaRPr lang="zh-CN" altLang="en-US" sz="20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183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二、工作原理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049000" y="8490043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95470" y="243910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</a:rPr>
              <a:t>UART</a:t>
            </a:r>
            <a:r>
              <a:rPr lang="zh-CN" altLang="en-US" sz="2800" b="1"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</a:rPr>
              <a:t>主要参数</a:t>
            </a:r>
            <a:endParaRPr lang="zh-CN" altLang="en-US" sz="2800" b="1"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3"/>
            </p:custDataLst>
          </p:nvPr>
        </p:nvGraphicFramePr>
        <p:xfrm>
          <a:off x="3357880" y="3311525"/>
          <a:ext cx="11797030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455"/>
                <a:gridCol w="4458970"/>
                <a:gridCol w="5475605"/>
              </a:tblGrid>
              <a:tr h="4578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参数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含义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/>
                        <a:t>示例</a:t>
                      </a:r>
                      <a:endParaRPr lang="zh-CN" altLang="en-US" sz="240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 fontAlgn="t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波特率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</a:rPr>
                        <a:t>每秒传输的符号数，单位是bps；</a:t>
                      </a:r>
                      <a:endParaRPr lang="zh-CN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algn="l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</a:rPr>
                        <a:t>双方波特率必须一致，否则会导致数据错误</a:t>
                      </a:r>
                      <a:endParaRPr lang="zh-CN" altLang="en-US" sz="18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常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见值：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9600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115200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；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波特率越高，传输速度越快，但抗干扰能力越差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8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数据位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</a:rPr>
                        <a:t>一帧数据中有效位数</a:t>
                      </a:r>
                      <a:endParaRPr lang="zh-CN" altLang="en-US" sz="18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通常为5至9位；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最常用的是8位，传输一个ASCII字符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47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校验位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一种简单的错误检测机制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无校验：不进行校验；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奇校验：数据位与校验位中“1”的总数为奇数；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偶校验：数据位与校验位中“1”的总数为偶数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83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停止位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标准一帧数据结束的信号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通常为1或2位；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最常用的是1位停止位。</a:t>
                      </a:r>
                      <a:endParaRPr lang="zh-CN" alt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11817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流控制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</a:rPr>
                        <a:t>协调发送方和接收方之间的数据流速</a:t>
                      </a: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无流控：不进行流速控制。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硬件流控：使用额外的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RTS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和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CTS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信号线自动控制数据流。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软件流控：使用特定的控制字符（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XON/XOFF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）在数据流中插入开始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停止命令。</a:t>
                      </a:r>
                      <a:endParaRPr lang="zh-CN" alt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357880" y="8724900"/>
            <a:ext cx="11629390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在启动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通信前，通信双方必须就以上参数达成一致；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最常见的配置是：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位数据位、无校验、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位停止位、无流控制（常简写为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8N1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183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二、工作原理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049000" y="8490043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4070" y="255277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</a:rPr>
              <a:t>UART</a:t>
            </a:r>
            <a:r>
              <a:rPr lang="zh-CN" altLang="en-US" sz="2800" b="1" dirty="0"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</a:rPr>
              <a:t>数据帧形式</a:t>
            </a:r>
            <a:endParaRPr lang="zh-CN" altLang="en-US" sz="2800" b="1" dirty="0"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7353300"/>
            <a:ext cx="10502900" cy="2057400"/>
          </a:xfrm>
          <a:prstGeom prst="rect">
            <a:avLst/>
          </a:prstGeom>
        </p:spPr>
      </p:pic>
      <p:sp>
        <p:nvSpPr>
          <p:cNvPr id="12" name="矩形: 圆角 5"/>
          <p:cNvSpPr/>
          <p:nvPr/>
        </p:nvSpPr>
        <p:spPr>
          <a:xfrm>
            <a:off x="2971800" y="3558540"/>
            <a:ext cx="2315845" cy="29425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帧结构组成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UART </a:t>
            </a:r>
            <a:r>
              <a:rPr lang="zh-CN" altLang="en-US" sz="1600" dirty="0">
                <a:solidFill>
                  <a:schemeClr val="tx1"/>
                </a:solidFill>
              </a:rPr>
              <a:t>数据帧由起始位、数据位、可选的校验位及停止位依次构成，共同封装并传输一帧完整数据。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矩形: 圆角 8"/>
          <p:cNvSpPr/>
          <p:nvPr/>
        </p:nvSpPr>
        <p:spPr>
          <a:xfrm>
            <a:off x="12268200" y="3551555"/>
            <a:ext cx="2308225" cy="29508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帧结构灵活性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帧结构具有高度灵活性，其数据位长度、校验位、停止位长度等关键参数均可根据具体应用需求进行灵活配置，以实现通信效率与可靠性的最佳平衡。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矩形: 圆角 9"/>
          <p:cNvSpPr/>
          <p:nvPr/>
        </p:nvSpPr>
        <p:spPr>
          <a:xfrm>
            <a:off x="9144000" y="3551555"/>
            <a:ext cx="2218055" cy="29508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数据位传输顺序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UART</a:t>
            </a:r>
            <a:r>
              <a:rPr lang="zh-CN" altLang="en-US" sz="1600" dirty="0">
                <a:solidFill>
                  <a:schemeClr val="tx1"/>
                </a:solidFill>
              </a:rPr>
              <a:t>的数据位传输遵循低位在前（</a:t>
            </a:r>
            <a:r>
              <a:rPr lang="en-US" altLang="zh-CN" sz="1600" dirty="0">
                <a:solidFill>
                  <a:schemeClr val="tx1"/>
                </a:solidFill>
              </a:rPr>
              <a:t>LSB first</a:t>
            </a:r>
            <a:r>
              <a:rPr lang="zh-CN" altLang="en-US" sz="1600" dirty="0">
                <a:solidFill>
                  <a:schemeClr val="tx1"/>
                </a:solidFill>
              </a:rPr>
              <a:t>）原则，即数据字节的最低位（</a:t>
            </a:r>
            <a:r>
              <a:rPr lang="en-US" altLang="zh-CN" sz="1600" dirty="0">
                <a:solidFill>
                  <a:schemeClr val="tx1"/>
                </a:solidFill>
              </a:rPr>
              <a:t>bit 0</a:t>
            </a:r>
            <a:r>
              <a:rPr lang="zh-CN" altLang="en-US" sz="1600" dirty="0">
                <a:solidFill>
                  <a:schemeClr val="tx1"/>
                </a:solidFill>
              </a:rPr>
              <a:t>）最先被发送，最高位最后被发送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矩形: 圆角 10"/>
          <p:cNvSpPr/>
          <p:nvPr/>
        </p:nvSpPr>
        <p:spPr>
          <a:xfrm>
            <a:off x="6019800" y="3559175"/>
            <a:ext cx="2217420" cy="29425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波特率与帧长度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通信双方需约定波特率、数据位长度、奇偶校验类型和停止位长度。以9600-8-N-1为例，一帧共10位，耗时约1.04 </a:t>
            </a:r>
            <a:r>
              <a:rPr lang="en-US" altLang="zh-CN" sz="1600" dirty="0" err="1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ms</a:t>
            </a:r>
            <a:r>
              <a:rPr lang="en-US" altLang="zh-CN" sz="16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183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二、工作原理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049000" y="8490043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465070" y="2705100"/>
            <a:ext cx="741108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第一步：发送</a:t>
            </a:r>
            <a:r>
              <a:rPr lang="en-US" altLang="zh-CN" sz="2400" dirty="0"/>
              <a:t>UART</a:t>
            </a:r>
            <a:r>
              <a:rPr lang="zh-CN" altLang="en-US" sz="2400" dirty="0"/>
              <a:t>从数据总线并行接收数据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438400" y="4457700"/>
            <a:ext cx="7787640" cy="975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第二步：发送</a:t>
            </a:r>
            <a:r>
              <a:rPr lang="en-US" altLang="zh-CN" sz="2400" dirty="0"/>
              <a:t>UART</a:t>
            </a:r>
            <a:r>
              <a:rPr lang="zh-CN" altLang="en-US" sz="2400" dirty="0"/>
              <a:t>将起始位、奇偶校验位和停止位添加到数据帧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438400" y="7007225"/>
            <a:ext cx="7158990" cy="1393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第三步：从起始位到结束位，整个数据包以串行方式从发送</a:t>
            </a:r>
            <a:r>
              <a:rPr lang="en-US" altLang="zh-CN" sz="2400" dirty="0"/>
              <a:t>UART</a:t>
            </a:r>
            <a:r>
              <a:rPr lang="zh-CN" altLang="en-US" sz="2400" dirty="0"/>
              <a:t>送至接收</a:t>
            </a:r>
            <a:r>
              <a:rPr lang="en-US" altLang="zh-CN" sz="2400" dirty="0"/>
              <a:t>UART</a:t>
            </a:r>
            <a:r>
              <a:rPr lang="zh-CN" altLang="en-US" sz="2400" dirty="0"/>
              <a:t>。接收</a:t>
            </a:r>
            <a:r>
              <a:rPr lang="en-US" altLang="zh-CN" sz="2400" dirty="0"/>
              <a:t>UART</a:t>
            </a:r>
            <a:r>
              <a:rPr lang="zh-CN" altLang="en-US" sz="2400" dirty="0"/>
              <a:t>以预配置的波特率对数据线进行采样</a:t>
            </a:r>
            <a:endParaRPr lang="zh-CN" altLang="en-US" sz="24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114300"/>
            <a:ext cx="3325495" cy="33934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4000500"/>
            <a:ext cx="4330700" cy="2595245"/>
          </a:xfrm>
          <a:prstGeom prst="rect">
            <a:avLst/>
          </a:prstGeom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7124700"/>
            <a:ext cx="5578475" cy="245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36338" y="3834173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183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二、工作原理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1049000" y="8490043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19400" y="3162300"/>
            <a:ext cx="6366510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第四步：接收</a:t>
            </a:r>
            <a:r>
              <a:rPr lang="en-US" altLang="zh-CN" sz="2400" dirty="0"/>
              <a:t>UART</a:t>
            </a:r>
            <a:r>
              <a:rPr lang="zh-CN" altLang="en-US" sz="2400" dirty="0"/>
              <a:t>丢弃数据帧中的起始位、奇偶校验位和停止位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895600" y="6438900"/>
            <a:ext cx="646811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第五步：接收</a:t>
            </a:r>
            <a:r>
              <a:rPr lang="en-US" altLang="zh-CN" sz="2400" dirty="0"/>
              <a:t>UART</a:t>
            </a:r>
            <a:r>
              <a:rPr lang="zh-CN" altLang="en-US" sz="2400" dirty="0"/>
              <a:t>将串行数据转换回并行数据，并将其传输到接收端的数据总线</a:t>
            </a: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095500"/>
            <a:ext cx="4688205" cy="27743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5829300"/>
            <a:ext cx="3696335" cy="3648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三、常见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错误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11" name="矩形: 圆角 2"/>
          <p:cNvSpPr/>
          <p:nvPr/>
        </p:nvSpPr>
        <p:spPr>
          <a:xfrm>
            <a:off x="1143000" y="3314700"/>
            <a:ext cx="3145155" cy="44672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帧错误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现象：接收端检测到的停止位不是预期的逻辑高电平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r>
              <a:rPr lang="zh-CN" altLang="en-US" sz="1600" dirty="0">
                <a:solidFill>
                  <a:schemeClr val="tx1"/>
                </a:solidFill>
              </a:rPr>
              <a:t>导致当前帧数据被丢弃，且可能影响后续帧的同步</a:t>
            </a:r>
            <a:endParaRPr lang="en-US" altLang="zh-CN" sz="1600" dirty="0">
              <a:solidFill>
                <a:schemeClr val="tx1"/>
              </a:solidFill>
            </a:endParaRP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原因：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波特率严重不匹配：导致接收端在错误的时刻采样，将数据位或校验位误判为停止位。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线路噪声干扰：强烈的电磁干扰使停止位信号发生畸变。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硬件连接问题：接触不良或接线错误。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矩形: 圆角 3"/>
          <p:cNvSpPr/>
          <p:nvPr/>
        </p:nvSpPr>
        <p:spPr>
          <a:xfrm>
            <a:off x="9144000" y="3333115"/>
            <a:ext cx="3030855" cy="444881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奇偶校验错误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现象：接收端根据收到的数据位计算出的奇偶校验位，与帧中实际的校验位不一致。</a:t>
            </a:r>
            <a:endParaRPr lang="zh-CN" altLang="en-US" sz="1600" dirty="0">
              <a:solidFill>
                <a:schemeClr val="tx1"/>
              </a:solidFill>
            </a:endParaRPr>
          </a:p>
          <a:p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原因：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传输过程中的偶发性噪声（如电源纹波、辐射干扰）改变了某一位的数据。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轻微的波特率偏差：在长距离或高速通信时，可能因采样点漂移导致个别位采样错误。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矩形: 圆角 4"/>
          <p:cNvSpPr/>
          <p:nvPr/>
        </p:nvSpPr>
        <p:spPr>
          <a:xfrm>
            <a:off x="5257800" y="3314700"/>
            <a:ext cx="3068955" cy="44538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溢出错误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现象：接收端缓冲区内的数据尚未被读取，新的一帧数据已接收完毕并准备覆盖，导致数据丢失</a:t>
            </a:r>
            <a:endParaRPr lang="en-US" altLang="zh-CN" sz="1600" dirty="0">
              <a:solidFill>
                <a:schemeClr val="tx1"/>
              </a:solidFill>
            </a:endParaRP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原因：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软件处理速度过慢：主程序未能及时读取接收数据寄存器或</a:t>
            </a:r>
            <a:r>
              <a:rPr lang="en-US" altLang="zh-CN" sz="1600" dirty="0">
                <a:solidFill>
                  <a:schemeClr val="tx1"/>
                </a:solidFill>
              </a:rPr>
              <a:t>FIFO</a:t>
            </a:r>
            <a:r>
              <a:rPr lang="zh-CN" altLang="en-US" sz="1600" dirty="0">
                <a:solidFill>
                  <a:schemeClr val="tx1"/>
                </a:solidFill>
              </a:rPr>
              <a:t>缓冲区。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中断被阻塞：高优先级任务长时间关闭中断，导致</a:t>
            </a:r>
            <a:r>
              <a:rPr lang="en-US" altLang="zh-CN" sz="1600" dirty="0">
                <a:solidFill>
                  <a:schemeClr val="tx1"/>
                </a:solidFill>
              </a:rPr>
              <a:t>UART</a:t>
            </a:r>
            <a:r>
              <a:rPr lang="zh-CN" altLang="en-US" sz="1600" dirty="0">
                <a:solidFill>
                  <a:schemeClr val="tx1"/>
                </a:solidFill>
              </a:rPr>
              <a:t>接收中断无法及时响应。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矩形: 圆角 5"/>
          <p:cNvSpPr/>
          <p:nvPr/>
        </p:nvSpPr>
        <p:spPr>
          <a:xfrm>
            <a:off x="13030200" y="3314700"/>
            <a:ext cx="3159125" cy="444881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波特率不匹配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现象：通信双方看似正常，但接收到的全是乱码，且可能伴随帧错误和奇偶校验错误。</a:t>
            </a:r>
            <a:endParaRPr lang="zh-CN" altLang="en-US" sz="1600" dirty="0">
              <a:solidFill>
                <a:schemeClr val="tx1"/>
              </a:solidFill>
            </a:endParaRPr>
          </a:p>
          <a:p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原因：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发送方和接收方设置的波特率存在偏差（即使误差很小）</a:t>
            </a:r>
            <a:endParaRPr lang="en-US" altLang="zh-CN" sz="1600" dirty="0">
              <a:solidFill>
                <a:schemeClr val="tx1"/>
              </a:solidFill>
            </a:endParaRP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后果：</a:t>
            </a:r>
            <a:br>
              <a:rPr lang="en-US" altLang="zh-CN" sz="1600" dirty="0">
                <a:solidFill>
                  <a:schemeClr val="tx1"/>
                </a:solidFill>
              </a:rPr>
            </a:br>
            <a:r>
              <a:rPr lang="zh-CN" altLang="en-US" sz="1600" dirty="0">
                <a:solidFill>
                  <a:schemeClr val="tx1"/>
                </a:solidFill>
              </a:rPr>
              <a:t>接收端的采样点会逐渐偏离数据位的中心，最终落到位边缘甚至相邻位上，导致数据误判。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误差随着帧长度的增加而累积。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四、常见通信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类型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2148840" y="2705100"/>
          <a:ext cx="13990955" cy="453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910"/>
                <a:gridCol w="1631315"/>
                <a:gridCol w="1818640"/>
                <a:gridCol w="2439035"/>
                <a:gridCol w="2145030"/>
                <a:gridCol w="1144905"/>
                <a:gridCol w="1541145"/>
                <a:gridCol w="1831975"/>
              </a:tblGrid>
              <a:tr h="1242060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协议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通信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复杂度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传输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速度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设备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数量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线数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复式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主从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数量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UART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异步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简单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通常几Mbps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最多2台设备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全双工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单对单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242060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I2C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同步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轻松链接多个设备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标准100kbps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快速400kbps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最多127个，但变得复杂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半双工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多个从机和主机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242060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SPI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同步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随着设备的增加而复杂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可达几十甚至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上百Mbps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很多，但变得复杂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全双工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1个主站，多个从站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909185" y="7962900"/>
            <a:ext cx="11230610" cy="1617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不同协议因速度、复杂度和抗干扰能力不同，适用于不同场景。</a:t>
            </a:r>
            <a:endParaRPr lang="en-US" sz="24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pPr algn="r"/>
            <a:endParaRPr lang="en-US" sz="24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pPr algn="r"/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UART 凭借通用性和易用性，成为调试口和模块通信的首选。</a:t>
            </a:r>
            <a:endParaRPr lang="en-US" sz="2400" dirty="0"/>
          </a:p>
          <a:p>
            <a:pPr algn="r"/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五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、实际应用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772400" y="7658100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AutoShape 6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2279938" y="9250362"/>
            <a:ext cx="79681" cy="7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1676400" y="3121660"/>
            <a:ext cx="7559675" cy="56013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</a:rPr>
              <a:t>设备调试与系统日志输出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/>
            <a:r>
              <a:rPr lang="en-US" altLang="zh-CN" sz="2000" dirty="0">
                <a:solidFill>
                  <a:schemeClr val="tx1"/>
                </a:solidFill>
              </a:rPr>
              <a:t>USB</a:t>
            </a:r>
            <a:r>
              <a:rPr lang="zh-CN" altLang="en-US" sz="2000" dirty="0">
                <a:solidFill>
                  <a:schemeClr val="tx1"/>
                </a:solidFill>
              </a:rPr>
              <a:t>转</a:t>
            </a:r>
            <a:r>
              <a:rPr lang="en-US" altLang="zh-CN" sz="2000" dirty="0">
                <a:solidFill>
                  <a:schemeClr val="tx1"/>
                </a:solidFill>
              </a:rPr>
              <a:t>TTL</a:t>
            </a:r>
            <a:r>
              <a:rPr lang="zh-CN" altLang="en-US" sz="2000" dirty="0">
                <a:solidFill>
                  <a:schemeClr val="tx1"/>
                </a:solidFill>
              </a:rPr>
              <a:t>模块：嵌入式开发中，常通过</a:t>
            </a: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连接</a:t>
            </a:r>
            <a:r>
              <a:rPr lang="en-US" altLang="zh-CN" sz="2000" dirty="0">
                <a:solidFill>
                  <a:schemeClr val="tx1"/>
                </a:solidFill>
              </a:rPr>
              <a:t>USB</a:t>
            </a:r>
            <a:r>
              <a:rPr lang="zh-CN" altLang="en-US" sz="2000" dirty="0">
                <a:solidFill>
                  <a:schemeClr val="tx1"/>
                </a:solidFill>
              </a:rPr>
              <a:t>转</a:t>
            </a:r>
            <a:r>
              <a:rPr lang="en-US" altLang="zh-CN" sz="2000" dirty="0">
                <a:solidFill>
                  <a:schemeClr val="tx1"/>
                </a:solidFill>
              </a:rPr>
              <a:t>TTL</a:t>
            </a:r>
            <a:r>
              <a:rPr lang="zh-CN" altLang="en-US" sz="2000" dirty="0">
                <a:solidFill>
                  <a:schemeClr val="tx1"/>
                </a:solidFill>
              </a:rPr>
              <a:t>模块与</a:t>
            </a:r>
            <a:r>
              <a:rPr lang="en-US" altLang="zh-CN" sz="2000" dirty="0">
                <a:solidFill>
                  <a:schemeClr val="tx1"/>
                </a:solidFill>
              </a:rPr>
              <a:t>PC</a:t>
            </a:r>
            <a:r>
              <a:rPr lang="zh-CN" altLang="en-US" sz="2000" dirty="0">
                <a:solidFill>
                  <a:schemeClr val="tx1"/>
                </a:solidFill>
              </a:rPr>
              <a:t>通信，打印调试信息与运行日志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400" b="1" dirty="0">
                <a:solidFill>
                  <a:schemeClr val="tx1"/>
                </a:solidFill>
              </a:rPr>
              <a:t>微控制器与外设模块间的通信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蓝牙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</a:rPr>
              <a:t>WiFi</a:t>
            </a:r>
            <a:r>
              <a:rPr lang="zh-CN" altLang="en-US" sz="2000" dirty="0">
                <a:solidFill>
                  <a:schemeClr val="tx1"/>
                </a:solidFill>
              </a:rPr>
              <a:t>模块：作为“桥接”接口，微控制器通过</a:t>
            </a: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向这些无线模块发送</a:t>
            </a:r>
            <a:r>
              <a:rPr lang="en-US" altLang="zh-CN" sz="2000" dirty="0">
                <a:solidFill>
                  <a:schemeClr val="tx1"/>
                </a:solidFill>
              </a:rPr>
              <a:t>AT</a:t>
            </a:r>
            <a:r>
              <a:rPr lang="zh-CN" altLang="en-US" sz="2000" dirty="0">
                <a:solidFill>
                  <a:schemeClr val="tx1"/>
                </a:solidFill>
              </a:rPr>
              <a:t>指令或透明传输数据，实现无线通信功能。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400" b="1" dirty="0">
                <a:solidFill>
                  <a:schemeClr val="tx1"/>
                </a:solidFill>
              </a:rPr>
              <a:t>消费电子与</a:t>
            </a:r>
            <a:r>
              <a:rPr lang="en-US" altLang="zh-CN" sz="2400" b="1" dirty="0">
                <a:solidFill>
                  <a:schemeClr val="tx1"/>
                </a:solidFill>
              </a:rPr>
              <a:t>PC</a:t>
            </a:r>
            <a:r>
              <a:rPr lang="zh-CN" altLang="en-US" sz="2400" b="1" dirty="0">
                <a:solidFill>
                  <a:schemeClr val="tx1"/>
                </a:solidFill>
              </a:rPr>
              <a:t>接口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扫地机器人：通过</a:t>
            </a: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连接陀螺仪传感器，实现路径规划与避障等等</a:t>
            </a:r>
            <a:r>
              <a:rPr lang="zh-CN" altLang="en-US" sz="2000" b="1" dirty="0">
                <a:solidFill>
                  <a:schemeClr val="tx1"/>
                </a:solidFill>
              </a:rPr>
              <a:t>。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0" y="2461895"/>
            <a:ext cx="2679700" cy="168465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316200" y="4305300"/>
            <a:ext cx="263271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USB</a:t>
            </a:r>
            <a:r>
              <a:rPr lang="zh-CN" altLang="en-US" dirty="0"/>
              <a:t>转</a:t>
            </a:r>
            <a:r>
              <a:rPr lang="en-US" altLang="zh-CN" dirty="0"/>
              <a:t>TTL</a:t>
            </a:r>
            <a:r>
              <a:rPr lang="zh-CN" altLang="en-US" dirty="0"/>
              <a:t>模块</a:t>
            </a:r>
            <a:endParaRPr lang="zh-CN" altLang="en-US" dirty="0"/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965" y="5905500"/>
            <a:ext cx="2883535" cy="217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13"/>
          <p:cNvSpPr txBox="1"/>
          <p:nvPr/>
        </p:nvSpPr>
        <p:spPr>
          <a:xfrm>
            <a:off x="15316200" y="8335645"/>
            <a:ext cx="186817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扫地机器人</a:t>
            </a:r>
            <a:endParaRPr lang="zh-CN" altLang="en-US" sz="2000" dirty="0"/>
          </a:p>
        </p:txBody>
      </p:sp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10" y="3748405"/>
            <a:ext cx="2498725" cy="249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11"/>
          <p:cNvSpPr txBox="1"/>
          <p:nvPr/>
        </p:nvSpPr>
        <p:spPr>
          <a:xfrm>
            <a:off x="11430000" y="6362700"/>
            <a:ext cx="158813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蓝牙模块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六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、关键</a:t>
            </a:r>
            <a:r>
              <a:rPr lang="en-US" altLang="zh-CN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API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说明</a:t>
            </a:r>
            <a:endParaRPr lang="en-US" sz="60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772400" y="7658100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0" y="8420100"/>
            <a:ext cx="16230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各传感器对应的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详见操作手册。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p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1295400" y="2705100"/>
            <a:ext cx="6866890" cy="52647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设备初始化：</a:t>
            </a:r>
            <a:r>
              <a:rPr lang="en-US" altLang="zh-CN" sz="2000" dirty="0" err="1">
                <a:solidFill>
                  <a:schemeClr val="tx1"/>
                </a:solidFill>
              </a:rPr>
              <a:t>IoTUartInit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设备去初始化：</a:t>
            </a:r>
            <a:r>
              <a:rPr lang="en-US" altLang="zh-CN" sz="2000" dirty="0" err="1">
                <a:solidFill>
                  <a:schemeClr val="tx1"/>
                </a:solidFill>
              </a:rPr>
              <a:t>IoTUartDeinit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UART</a:t>
            </a:r>
            <a:r>
              <a:rPr lang="zh-CN" altLang="en-US" sz="2000" dirty="0">
                <a:solidFill>
                  <a:schemeClr val="tx1"/>
                </a:solidFill>
              </a:rPr>
              <a:t>设备读取指定长度的数据：</a:t>
            </a:r>
            <a:r>
              <a:rPr lang="en-US" altLang="zh-CN" sz="2000" dirty="0" err="1">
                <a:solidFill>
                  <a:schemeClr val="tx1"/>
                </a:solidFill>
              </a:rPr>
              <a:t>IoTUartRead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95400" y="3107055"/>
          <a:ext cx="6440170" cy="123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380"/>
                <a:gridCol w="3036570"/>
                <a:gridCol w="2395220"/>
              </a:tblGrid>
              <a:tr h="41084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参数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类型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Id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UART ID</a:t>
                      </a:r>
                      <a:endParaRPr lang="en-US" altLang="zh-CN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param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const </a:t>
                      </a:r>
                      <a:r>
                        <a:rPr lang="en-US" altLang="zh-CN" sz="2000" dirty="0" err="1"/>
                        <a:t>IotUartAttribute</a:t>
                      </a:r>
                      <a:r>
                        <a:rPr lang="en-US" altLang="zh-CN" sz="2000" dirty="0"/>
                        <a:t> *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UART</a:t>
                      </a:r>
                      <a:r>
                        <a:rPr lang="zh-CN" altLang="en-US" sz="2000" dirty="0"/>
                        <a:t>配置参数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295400" y="4833620"/>
          <a:ext cx="6440170" cy="808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740"/>
                <a:gridCol w="2823210"/>
                <a:gridCol w="2395220"/>
              </a:tblGrid>
              <a:tr h="40449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参数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类型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Id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UART ID</a:t>
                      </a:r>
                      <a:endParaRPr lang="en-US" altLang="zh-CN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332230" y="6438900"/>
          <a:ext cx="644017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095"/>
                <a:gridCol w="2791460"/>
                <a:gridCol w="2380615"/>
              </a:tblGrid>
              <a:tr h="41084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参数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类型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3981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id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UART ID</a:t>
                      </a:r>
                      <a:endParaRPr lang="en-US" altLang="zh-CN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data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char *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数据指针</a:t>
                      </a:r>
                      <a:endParaRPr lang="zh-CN" altLang="en-US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 err="1"/>
                        <a:t>dataLen</a:t>
                      </a:r>
                      <a:endParaRPr lang="en-US" altLang="zh-CN" sz="20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数据长度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9753600" y="2781300"/>
            <a:ext cx="6459855" cy="5454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UART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设备读取指定长度的数据：</a:t>
            </a:r>
            <a:r>
              <a:rPr kumimoji="0" lang="en-US" altLang="zh-CN" sz="2000" b="0" i="0" u="none" strike="noStrike" kern="1200" cap="none" spc="1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IoTUartRead</a:t>
            </a:r>
            <a:endParaRPr kumimoji="0" lang="en-US" altLang="zh-CN" sz="2000" b="0" i="0" u="none" strike="noStrike" kern="1200" cap="none" spc="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UART ID</a:t>
            </a:r>
            <a:r>
              <a:rPr lang="zh-CN" altLang="en-US" sz="2000" dirty="0"/>
              <a:t>配置和</a:t>
            </a:r>
            <a:r>
              <a:rPr lang="en-US" altLang="zh-CN" sz="2000" dirty="0"/>
              <a:t>IO</a:t>
            </a:r>
            <a:r>
              <a:rPr lang="zh-CN" altLang="en-US" sz="2000" dirty="0"/>
              <a:t>复用表：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906000" y="3238500"/>
          <a:ext cx="6440170" cy="1643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095"/>
                <a:gridCol w="2791460"/>
                <a:gridCol w="2380615"/>
              </a:tblGrid>
              <a:tr h="41084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参数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类型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id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UART ID</a:t>
                      </a:r>
                      <a:endParaRPr lang="en-US" altLang="zh-CN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data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char *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数据指针</a:t>
                      </a:r>
                      <a:endParaRPr lang="zh-CN" altLang="en-US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sz="2000" dirty="0" err="1"/>
                        <a:t>dataLen</a:t>
                      </a:r>
                      <a:endParaRPr lang="en-US" altLang="zh-CN" sz="20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unsigned int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数据长度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9829800" y="5600700"/>
          <a:ext cx="6406515" cy="246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95"/>
                <a:gridCol w="1906905"/>
                <a:gridCol w="1706245"/>
                <a:gridCol w="1601470"/>
              </a:tblGrid>
              <a:tr h="41084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串口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id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TX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RX</a:t>
                      </a:r>
                      <a:endParaRPr lang="en-US" altLang="zh-CN" sz="2000" dirty="0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UART0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EUART0_M0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GPIO0_PB7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GPIO0_PB6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UART0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EUART0_M1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GPIO0_PC7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GPIO0_PC6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UART1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EUART0_M0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GPIO0_PC3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GPIO0_PC2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UART1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EUART1_M1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GPIO0_PA7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GPIO0_PA6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UART2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EUART2_M1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GPIO0_PB3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GPIO0_PB2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七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、</a:t>
            </a:r>
            <a:r>
              <a:rPr lang="en-US" altLang="zh-CN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UART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样例</a:t>
            </a:r>
            <a:endParaRPr lang="zh-CN" altLang="en-US" sz="60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24000" y="2858770"/>
            <a:ext cx="15044420" cy="127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ym typeface="+mn-ea"/>
              </a:rPr>
              <a:t>本样例代码通过调用</a:t>
            </a:r>
            <a:r>
              <a:rPr lang="en-US" altLang="zh-CN" sz="2800">
                <a:sym typeface="+mn-ea"/>
              </a:rPr>
              <a:t>UART</a:t>
            </a:r>
            <a:r>
              <a:rPr lang="zh-CN" altLang="en-US" sz="2800">
                <a:sym typeface="+mn-ea"/>
              </a:rPr>
              <a:t>接口实现</a:t>
            </a:r>
            <a:r>
              <a:rPr lang="en-US" altLang="zh-CN" sz="2800">
                <a:sym typeface="+mn-ea"/>
              </a:rPr>
              <a:t>UART</a:t>
            </a:r>
            <a:r>
              <a:rPr lang="zh-CN" altLang="en-US" sz="2800">
                <a:sym typeface="+mn-ea"/>
              </a:rPr>
              <a:t>自发</a:t>
            </a:r>
            <a:r>
              <a:rPr lang="zh-CN" altLang="en-US" sz="2800">
                <a:sym typeface="+mn-ea"/>
              </a:rPr>
              <a:t>自读，引入</a:t>
            </a:r>
            <a:r>
              <a:rPr lang="en-US" altLang="zh-CN" sz="2800">
                <a:sym typeface="+mn-ea"/>
              </a:rPr>
              <a:t>UART</a:t>
            </a:r>
            <a:r>
              <a:rPr lang="zh-CN" altLang="en-US" sz="2800">
                <a:sym typeface="+mn-ea"/>
              </a:rPr>
              <a:t>驱动库和</a:t>
            </a:r>
            <a:r>
              <a:rPr lang="en-US" altLang="zh-CN" sz="2800">
                <a:sym typeface="+mn-ea"/>
              </a:rPr>
              <a:t>OHOS</a:t>
            </a:r>
            <a:r>
              <a:rPr lang="zh-CN" altLang="en-US" sz="2800">
                <a:sym typeface="+mn-ea"/>
              </a:rPr>
              <a:t>头文件。</a:t>
            </a:r>
            <a:endParaRPr lang="zh-CN" altLang="en-US" sz="28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4610100"/>
            <a:ext cx="5711190" cy="2997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457700"/>
            <a:ext cx="6178550" cy="302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七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、</a:t>
            </a:r>
            <a:r>
              <a:rPr lang="en-US" altLang="zh-CN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UART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样例</a:t>
            </a:r>
            <a:endParaRPr lang="zh-CN" altLang="en-US" sz="60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24100"/>
            <a:ext cx="8629650" cy="78486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668000" y="2552700"/>
            <a:ext cx="6096000" cy="7395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主线程</a:t>
            </a:r>
            <a:r>
              <a:rPr lang="zh-CN" altLang="en-US"/>
              <a:t>流程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 UART </a:t>
            </a:r>
            <a:r>
              <a:rPr lang="zh-CN" altLang="en-US"/>
              <a:t>去初始化</a:t>
            </a:r>
            <a:endParaRPr lang="zh-CN" altLang="en-US"/>
          </a:p>
          <a:p>
            <a:pPr indent="457200"/>
            <a:r>
              <a:rPr lang="zh-CN" altLang="en-US"/>
              <a:t>调用</a:t>
            </a:r>
            <a:r>
              <a:rPr lang="en-US" altLang="zh-CN"/>
              <a:t> IoTUartDeinit(UART_ID)</a:t>
            </a:r>
            <a:r>
              <a:rPr lang="zh-CN" altLang="en-US"/>
              <a:t>，确保串口</a:t>
            </a:r>
            <a:r>
              <a:rPr lang="en-US" altLang="zh-CN"/>
              <a:t>0</a:t>
            </a:r>
            <a:r>
              <a:rPr lang="zh-CN" altLang="en-US"/>
              <a:t>未被占用。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配置</a:t>
            </a:r>
            <a:r>
              <a:rPr lang="en-US" altLang="zh-CN"/>
              <a:t> UART </a:t>
            </a:r>
            <a:r>
              <a:rPr lang="zh-CN" altLang="en-US"/>
              <a:t>参数</a:t>
            </a:r>
            <a:endParaRPr lang="zh-CN" altLang="en-US"/>
          </a:p>
          <a:p>
            <a:pPr indent="457200"/>
            <a:r>
              <a:rPr lang="zh-CN" altLang="en-US"/>
              <a:t>设置波特率（</a:t>
            </a:r>
            <a:r>
              <a:rPr lang="en-US" altLang="zh-CN"/>
              <a:t>115200</a:t>
            </a:r>
            <a:r>
              <a:rPr lang="zh-CN" altLang="en-US"/>
              <a:t>）、数据位（</a:t>
            </a:r>
            <a:r>
              <a:rPr lang="en-US" altLang="zh-CN"/>
              <a:t>8</a:t>
            </a:r>
            <a:r>
              <a:rPr lang="zh-CN" altLang="en-US"/>
              <a:t>位）、无校验、</a:t>
            </a:r>
            <a:r>
              <a:rPr lang="en-US" altLang="zh-CN"/>
              <a:t>1</a:t>
            </a:r>
            <a:r>
              <a:rPr lang="zh-CN" altLang="en-US"/>
              <a:t>个停止位、无流控、非阻塞模式。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初始化</a:t>
            </a:r>
            <a:r>
              <a:rPr lang="en-US" altLang="zh-CN"/>
              <a:t> UART </a:t>
            </a:r>
            <a:r>
              <a:rPr lang="zh-CN" altLang="en-US"/>
              <a:t>接口</a:t>
            </a:r>
            <a:endParaRPr lang="zh-CN" altLang="en-US"/>
          </a:p>
          <a:p>
            <a:r>
              <a:rPr lang="zh-CN" altLang="en-US"/>
              <a:t>调用</a:t>
            </a:r>
            <a:r>
              <a:rPr lang="en-US" altLang="zh-CN"/>
              <a:t> IoTUartInit(UART_ID, &amp;attr) </a:t>
            </a:r>
            <a:r>
              <a:rPr lang="zh-CN" altLang="en-US"/>
              <a:t>完成串口初始化。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进入循环通信</a:t>
            </a:r>
            <a:endParaRPr lang="zh-CN" altLang="en-US"/>
          </a:p>
          <a:p>
            <a:endParaRPr lang="en-US" altLang="zh-CN"/>
          </a:p>
          <a:p>
            <a:pPr indent="457200"/>
            <a:r>
              <a:rPr lang="zh-CN" altLang="en-US"/>
              <a:t>每隔</a:t>
            </a:r>
            <a:r>
              <a:rPr lang="en-US" altLang="zh-CN"/>
              <a:t> 1 </a:t>
            </a:r>
            <a:r>
              <a:rPr lang="zh-CN" altLang="en-US"/>
              <a:t>秒通过串口发送字符串</a:t>
            </a:r>
            <a:r>
              <a:rPr lang="en-US" altLang="zh-CN"/>
              <a:t> "HelloWorld!"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pPr indent="457200"/>
            <a:r>
              <a:rPr lang="zh-CN" altLang="en-US"/>
              <a:t>然后尝试读取串口接收缓冲区内容（非阻塞方式）。</a:t>
            </a:r>
            <a:endParaRPr lang="zh-CN" altLang="en-US"/>
          </a:p>
          <a:p>
            <a:endParaRPr lang="en-US" altLang="zh-CN"/>
          </a:p>
          <a:p>
            <a:pPr indent="457200"/>
            <a:r>
              <a:rPr lang="zh-CN" altLang="en-US"/>
              <a:t>打印发送和接收的字符串及长度信息。</a:t>
            </a:r>
            <a:endParaRPr lang="zh-CN" altLang="en-US"/>
          </a:p>
          <a:p>
            <a:endParaRPr lang="en-US" altLang="zh-CN"/>
          </a:p>
          <a:p>
            <a:pPr indent="457200"/>
            <a:r>
              <a:rPr lang="zh-CN" altLang="en-US"/>
              <a:t>再休眠</a:t>
            </a:r>
            <a:r>
              <a:rPr lang="en-US" altLang="zh-CN"/>
              <a:t> 1 </a:t>
            </a:r>
            <a:r>
              <a:rPr lang="zh-CN" altLang="en-US"/>
              <a:t>秒，继续下一轮循环。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七、</a:t>
            </a:r>
            <a:r>
              <a:rPr lang="en-US" altLang="zh-CN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UART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样例</a:t>
            </a:r>
            <a:endParaRPr lang="zh-CN" altLang="en-US" sz="60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50265" y="2824480"/>
            <a:ext cx="13344525" cy="6032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 </a:t>
            </a:r>
            <a:r>
              <a:rPr lang="zh-CN" altLang="en-US" sz="2800"/>
              <a:t>线程创建：</a:t>
            </a:r>
            <a:r>
              <a:rPr lang="zh-CN" altLang="en-US" sz="2800" i="1" dirty="0" smtClean="0">
                <a:sym typeface="+mn-ea"/>
              </a:rPr>
              <a:t>创建</a:t>
            </a:r>
            <a:r>
              <a:rPr lang="zh-CN" altLang="en-US" sz="2800" i="1" dirty="0">
                <a:sym typeface="+mn-ea"/>
              </a:rPr>
              <a:t>采集任务，随系统初始化自动注册并运行</a:t>
            </a:r>
            <a:endParaRPr lang="zh-CN" altLang="en-US" sz="2800" i="1" dirty="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506200" y="5219700"/>
            <a:ext cx="2804795" cy="256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线程配置和创建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19500"/>
            <a:ext cx="8996045" cy="5551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68995" y="3817844"/>
            <a:ext cx="6367868" cy="4480386"/>
          </a:xfrm>
          <a:custGeom>
            <a:avLst/>
            <a:gdLst/>
            <a:ahLst/>
            <a:cxnLst/>
            <a:rect l="l" t="t" r="r" b="b"/>
            <a:pathLst>
              <a:path w="6367868" h="4480386">
                <a:moveTo>
                  <a:pt x="0" y="0"/>
                </a:moveTo>
                <a:lnTo>
                  <a:pt x="6367868" y="0"/>
                </a:lnTo>
                <a:lnTo>
                  <a:pt x="6367868" y="4480386"/>
                </a:lnTo>
                <a:lnTo>
                  <a:pt x="0" y="44803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569231"/>
            <a:ext cx="6324600" cy="1335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415"/>
              </a:lnSpc>
              <a:spcBef>
                <a:spcPct val="0"/>
              </a:spcBef>
            </a:pP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八、</a:t>
            </a:r>
            <a:r>
              <a:rPr lang="zh-CN" altLang="en-US" sz="6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可画风暴黑-简" panose="020B0500000000000000" charset="-122"/>
              </a:rPr>
              <a:t>编译烧录</a:t>
            </a:r>
            <a:endParaRPr lang="zh-CN" altLang="en-US" sz="60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可画风暴黑-简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0" y="2031270"/>
            <a:ext cx="3391889" cy="25756"/>
          </a:xfrm>
          <a:prstGeom prst="line">
            <a:avLst/>
          </a:prstGeom>
          <a:ln w="133350" cap="flat">
            <a:gradFill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91889" y="1990351"/>
            <a:ext cx="14896111" cy="0"/>
          </a:xfrm>
          <a:prstGeom prst="line">
            <a:avLst/>
          </a:prstGeom>
          <a:ln w="133350" cap="flat">
            <a:gradFill>
              <a:gsLst>
                <a:gs pos="0">
                  <a:srgbClr val="E8F2FA">
                    <a:alpha val="100000"/>
                  </a:srgbClr>
                </a:gs>
                <a:gs pos="33333">
                  <a:srgbClr val="EEF8FF">
                    <a:alpha val="100000"/>
                  </a:srgbClr>
                </a:gs>
                <a:gs pos="66667">
                  <a:srgbClr val="D9EBFA">
                    <a:alpha val="100000"/>
                  </a:srgbClr>
                </a:gs>
                <a:gs pos="100000">
                  <a:srgbClr val="C1DEF9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-10800000">
            <a:off x="344082" y="-236320"/>
            <a:ext cx="167978" cy="1704849"/>
            <a:chOff x="0" y="0"/>
            <a:chExt cx="44241" cy="449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41" cy="449014"/>
            </a:xfrm>
            <a:custGeom>
              <a:avLst/>
              <a:gdLst/>
              <a:ahLst/>
              <a:cxnLst/>
              <a:rect l="l" t="t" r="r" b="b"/>
              <a:pathLst>
                <a:path w="44241" h="449014">
                  <a:moveTo>
                    <a:pt x="22121" y="0"/>
                  </a:moveTo>
                  <a:lnTo>
                    <a:pt x="22121" y="0"/>
                  </a:lnTo>
                  <a:cubicBezTo>
                    <a:pt x="34337" y="0"/>
                    <a:pt x="44241" y="9904"/>
                    <a:pt x="44241" y="22121"/>
                  </a:cubicBezTo>
                  <a:lnTo>
                    <a:pt x="44241" y="426893"/>
                  </a:lnTo>
                  <a:cubicBezTo>
                    <a:pt x="44241" y="432760"/>
                    <a:pt x="41911" y="438386"/>
                    <a:pt x="37762" y="442535"/>
                  </a:cubicBezTo>
                  <a:cubicBezTo>
                    <a:pt x="33614" y="446683"/>
                    <a:pt x="27987" y="449014"/>
                    <a:pt x="22121" y="449014"/>
                  </a:cubicBezTo>
                  <a:lnTo>
                    <a:pt x="22121" y="449014"/>
                  </a:lnTo>
                  <a:cubicBezTo>
                    <a:pt x="16254" y="449014"/>
                    <a:pt x="10627" y="446683"/>
                    <a:pt x="6479" y="442535"/>
                  </a:cubicBezTo>
                  <a:cubicBezTo>
                    <a:pt x="2331" y="438386"/>
                    <a:pt x="0" y="432760"/>
                    <a:pt x="0" y="426893"/>
                  </a:cubicBezTo>
                  <a:lnTo>
                    <a:pt x="0" y="22121"/>
                  </a:lnTo>
                  <a:cubicBezTo>
                    <a:pt x="0" y="16254"/>
                    <a:pt x="2331" y="10627"/>
                    <a:pt x="6479" y="6479"/>
                  </a:cubicBezTo>
                  <a:cubicBezTo>
                    <a:pt x="10627" y="2331"/>
                    <a:pt x="16254" y="0"/>
                    <a:pt x="221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BBF6">
                    <a:alpha val="100000"/>
                  </a:srgbClr>
                </a:gs>
                <a:gs pos="100000">
                  <a:srgbClr val="97F6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241" cy="496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772400" y="7658100"/>
            <a:ext cx="3200400" cy="213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AutoShape 2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AutoShape 4" descr="TSL25911数字环境光传感器 高灵敏度 宽动态范围 I2C接口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924300"/>
            <a:ext cx="7775575" cy="336613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38200" y="2705100"/>
            <a:ext cx="15776575" cy="6403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将代码文件拷贝到指定路径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~/lockzhiner-rk2206-openharmony3.0lts-master/applications/sample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修改编译文件（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~/applications/sample/BUILD.gn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具体编译流程详见操作手册。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71900"/>
            <a:ext cx="4533265" cy="2219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2FA">
                <a:alpha val="100000"/>
              </a:srgbClr>
            </a:gs>
            <a:gs pos="33333">
              <a:srgbClr val="EEF8FF">
                <a:alpha val="100000"/>
              </a:srgbClr>
            </a:gs>
            <a:gs pos="66667">
              <a:srgbClr val="D9EBFA">
                <a:alpha val="100000"/>
              </a:srgbClr>
            </a:gs>
            <a:gs pos="100000">
              <a:srgbClr val="C1DEF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7575" y="1324510"/>
            <a:ext cx="8002779" cy="7933790"/>
          </a:xfrm>
          <a:custGeom>
            <a:avLst/>
            <a:gdLst/>
            <a:ahLst/>
            <a:cxnLst/>
            <a:rect l="l" t="t" r="r" b="b"/>
            <a:pathLst>
              <a:path w="8002779" h="7933790">
                <a:moveTo>
                  <a:pt x="0" y="0"/>
                </a:moveTo>
                <a:lnTo>
                  <a:pt x="8002779" y="0"/>
                </a:lnTo>
                <a:lnTo>
                  <a:pt x="8002779" y="7933790"/>
                </a:lnTo>
                <a:lnTo>
                  <a:pt x="0" y="793379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2564268"/>
            <a:ext cx="141783" cy="4342492"/>
            <a:chOff x="0" y="0"/>
            <a:chExt cx="37342" cy="11437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342" cy="1143702"/>
            </a:xfrm>
            <a:custGeom>
              <a:avLst/>
              <a:gdLst/>
              <a:ahLst/>
              <a:cxnLst/>
              <a:rect l="l" t="t" r="r" b="b"/>
              <a:pathLst>
                <a:path w="37342" h="1143702">
                  <a:moveTo>
                    <a:pt x="18671" y="0"/>
                  </a:moveTo>
                  <a:lnTo>
                    <a:pt x="18671" y="0"/>
                  </a:lnTo>
                  <a:cubicBezTo>
                    <a:pt x="28983" y="0"/>
                    <a:pt x="37342" y="8359"/>
                    <a:pt x="37342" y="18671"/>
                  </a:cubicBezTo>
                  <a:lnTo>
                    <a:pt x="37342" y="1125031"/>
                  </a:lnTo>
                  <a:cubicBezTo>
                    <a:pt x="37342" y="1135342"/>
                    <a:pt x="28983" y="1143702"/>
                    <a:pt x="18671" y="1143702"/>
                  </a:cubicBezTo>
                  <a:lnTo>
                    <a:pt x="18671" y="1143702"/>
                  </a:lnTo>
                  <a:cubicBezTo>
                    <a:pt x="8359" y="1143702"/>
                    <a:pt x="0" y="1135342"/>
                    <a:pt x="0" y="1125031"/>
                  </a:cubicBezTo>
                  <a:lnTo>
                    <a:pt x="0" y="18671"/>
                  </a:lnTo>
                  <a:cubicBezTo>
                    <a:pt x="0" y="8359"/>
                    <a:pt x="8359" y="0"/>
                    <a:pt x="18671" y="0"/>
                  </a:cubicBezTo>
                  <a:close/>
                </a:path>
              </a:pathLst>
            </a:custGeom>
            <a:solidFill>
              <a:srgbClr val="33BDE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342" cy="1191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86586" y="4062414"/>
            <a:ext cx="6887719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0000" b="1" spc="67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可画标题黑-简" panose="020B0500000000000000" charset="-122"/>
                <a:sym typeface="可画标题黑-简" panose="020B0500000000000000" charset="-122"/>
              </a:rPr>
              <a:t>THANKS</a:t>
            </a:r>
            <a:r>
              <a:rPr lang="en-US" sz="10000" spc="679" dirty="0">
                <a:solidFill>
                  <a:srgbClr val="000000"/>
                </a:solidFill>
                <a:latin typeface="可画标题黑-简" panose="020B0500000000000000" charset="-122"/>
                <a:ea typeface="可画标题黑-简" panose="020B0500000000000000" charset="-122"/>
                <a:cs typeface="可画标题黑-简" panose="020B0500000000000000" charset="-122"/>
                <a:sym typeface="可画标题黑-简" panose="020B0500000000000000" charset="-122"/>
              </a:rPr>
              <a:t> </a:t>
            </a:r>
            <a:endParaRPr lang="en-US" sz="10000" spc="679" dirty="0">
              <a:solidFill>
                <a:srgbClr val="000000"/>
              </a:solidFill>
              <a:latin typeface="可画标题黑-简" panose="020B0500000000000000" charset="-122"/>
              <a:ea typeface="可画标题黑-简" panose="020B0500000000000000" charset="-122"/>
              <a:cs typeface="可画标题黑-简" panose="020B0500000000000000" charset="-122"/>
              <a:sym typeface="可画标题黑-简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TABLE_ENDDRAG_ORIGIN_RECT" val="928*358"/>
  <p:tag name="TABLE_ENDDRAG_RECT" val="264*260*928*358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TABLE_ENDDRAG_ORIGIN_RECT" val="1101*357"/>
  <p:tag name="TABLE_ENDDRAG_RECT" val="156*213*1101*3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3474</Words>
  <Application>WPS 演示</Application>
  <PresentationFormat>自定义</PresentationFormat>
  <Paragraphs>478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字由点字美玲体</vt:lpstr>
      <vt:lpstr>思源宋体-粗体 1 Bold</vt:lpstr>
      <vt:lpstr>可画风暴黑-简</vt:lpstr>
      <vt:lpstr>Wingdings</vt:lpstr>
      <vt:lpstr>黑体</vt:lpstr>
      <vt:lpstr>MiSans</vt:lpstr>
      <vt:lpstr>MiSans</vt:lpstr>
      <vt:lpstr>Arial</vt:lpstr>
      <vt:lpstr>可画标题黑-简</vt:lpstr>
      <vt:lpstr>Arial Unicode MS</vt:lpstr>
      <vt:lpstr>Calibri</vt:lpstr>
      <vt:lpstr>方正仿宋_GB2312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汇报人：张小可</dc:title>
  <dc:creator/>
  <cp:lastModifiedBy>WPS_1710378611</cp:lastModifiedBy>
  <cp:revision>36</cp:revision>
  <dcterms:created xsi:type="dcterms:W3CDTF">2006-08-16T00:00:00Z</dcterms:created>
  <dcterms:modified xsi:type="dcterms:W3CDTF">2025-10-21T15:35:57Z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7EF1072D41364760A929DE0D1E83E188_13</vt:lpwstr>
  </property>
  <property fmtid="{D5CDD505-2E9C-101B-9397-08002B2CF9AE}" pid="3" name="KSOProductBuildVer">
    <vt:lpwstr>2052-12.1.0.23125</vt:lpwstr>
  </property>
</Properties>
</file>